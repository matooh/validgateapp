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8"/>
  </p:notesMasterIdLst>
  <p:sldIdLst>
    <p:sldId id="266" r:id="rId2"/>
    <p:sldId id="268" r:id="rId3"/>
    <p:sldId id="264" r:id="rId4"/>
    <p:sldId id="267" r:id="rId5"/>
    <p:sldId id="269" r:id="rId6"/>
    <p:sldId id="270" r:id="rId7"/>
    <p:sldId id="287" r:id="rId8"/>
    <p:sldId id="275" r:id="rId9"/>
    <p:sldId id="280" r:id="rId10"/>
    <p:sldId id="281" r:id="rId11"/>
    <p:sldId id="288" r:id="rId12"/>
    <p:sldId id="289" r:id="rId13"/>
    <p:sldId id="282" r:id="rId14"/>
    <p:sldId id="297" r:id="rId15"/>
    <p:sldId id="296" r:id="rId16"/>
    <p:sldId id="285" r:id="rId17"/>
  </p:sldIdLst>
  <p:sldSz cx="9144000" cy="6858000" type="letter"/>
  <p:notesSz cx="6858000" cy="91440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0000"/>
    <a:srgbClr val="E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0145" autoAdjust="0"/>
  </p:normalViewPr>
  <p:slideViewPr>
    <p:cSldViewPr snapToGrid="0" snapToObjects="1">
      <p:cViewPr varScale="1">
        <p:scale>
          <a:sx n="88" d="100"/>
          <a:sy n="88" d="100"/>
        </p:scale>
        <p:origin x="23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YES BETTANCOURT MATÍAS I" userId="d3dbd50a-6c4b-4758-986a-7b2e0f943e08" providerId="ADAL" clId="{9B6448A4-7F56-4B77-8768-C9F100E971B5}"/>
    <pc:docChg chg="addSld modSld">
      <pc:chgData name="REYES BETTANCOURT MATÍAS I" userId="d3dbd50a-6c4b-4758-986a-7b2e0f943e08" providerId="ADAL" clId="{9B6448A4-7F56-4B77-8768-C9F100E971B5}" dt="2026-09-02T00:25:28.762" v="148" actId="20577"/>
      <pc:docMkLst>
        <pc:docMk/>
      </pc:docMkLst>
      <pc:sldChg chg="mod modShow">
        <pc:chgData name="REYES BETTANCOURT MATÍAS I" userId="d3dbd50a-6c4b-4758-986a-7b2e0f943e08" providerId="ADAL" clId="{9B6448A4-7F56-4B77-8768-C9F100E971B5}" dt="2026-09-02T00:22:30.840" v="1" actId="34476"/>
        <pc:sldMkLst>
          <pc:docMk/>
          <pc:sldMk cId="1419707831" sldId="264"/>
        </pc:sldMkLst>
      </pc:sldChg>
      <pc:sldChg chg="modSp mod">
        <pc:chgData name="REYES BETTANCOURT MATÍAS I" userId="d3dbd50a-6c4b-4758-986a-7b2e0f943e08" providerId="ADAL" clId="{9B6448A4-7F56-4B77-8768-C9F100E971B5}" dt="2026-09-02T00:23:43.227" v="62" actId="1076"/>
        <pc:sldMkLst>
          <pc:docMk/>
          <pc:sldMk cId="2630132022" sldId="280"/>
        </pc:sldMkLst>
        <pc:picChg chg="mod">
          <ac:chgData name="REYES BETTANCOURT MATÍAS I" userId="d3dbd50a-6c4b-4758-986a-7b2e0f943e08" providerId="ADAL" clId="{9B6448A4-7F56-4B77-8768-C9F100E971B5}" dt="2026-09-02T00:23:43.227" v="62" actId="1076"/>
          <ac:picMkLst>
            <pc:docMk/>
            <pc:sldMk cId="2630132022" sldId="280"/>
            <ac:picMk id="6" creationId="{1ED38034-1FB2-43E9-B37A-EB4654AECFA1}"/>
          </ac:picMkLst>
        </pc:picChg>
      </pc:sldChg>
      <pc:sldChg chg="modNotesTx">
        <pc:chgData name="REYES BETTANCOURT MATÍAS I" userId="d3dbd50a-6c4b-4758-986a-7b2e0f943e08" providerId="ADAL" clId="{9B6448A4-7F56-4B77-8768-C9F100E971B5}" dt="2026-09-02T00:24:04.910" v="90" actId="20577"/>
        <pc:sldMkLst>
          <pc:docMk/>
          <pc:sldMk cId="2200489562" sldId="281"/>
        </pc:sldMkLst>
      </pc:sldChg>
      <pc:sldChg chg="mod modShow">
        <pc:chgData name="REYES BETTANCOURT MATÍAS I" userId="d3dbd50a-6c4b-4758-986a-7b2e0f943e08" providerId="ADAL" clId="{9B6448A4-7F56-4B77-8768-C9F100E971B5}" dt="2026-09-02T00:25:06.161" v="92" actId="729"/>
        <pc:sldMkLst>
          <pc:docMk/>
          <pc:sldMk cId="1419707831" sldId="282"/>
        </pc:sldMkLst>
      </pc:sldChg>
      <pc:sldChg chg="modSp mod">
        <pc:chgData name="REYES BETTANCOURT MATÍAS I" userId="d3dbd50a-6c4b-4758-986a-7b2e0f943e08" providerId="ADAL" clId="{9B6448A4-7F56-4B77-8768-C9F100E971B5}" dt="2026-09-02T00:23:27.088" v="58" actId="1076"/>
        <pc:sldMkLst>
          <pc:docMk/>
          <pc:sldMk cId="1419707831" sldId="287"/>
        </pc:sldMkLst>
        <pc:spChg chg="mod">
          <ac:chgData name="REYES BETTANCOURT MATÍAS I" userId="d3dbd50a-6c4b-4758-986a-7b2e0f943e08" providerId="ADAL" clId="{9B6448A4-7F56-4B77-8768-C9F100E971B5}" dt="2026-09-02T00:23:27.088" v="58" actId="1076"/>
          <ac:spMkLst>
            <pc:docMk/>
            <pc:sldMk cId="1419707831" sldId="287"/>
            <ac:spMk id="4" creationId="{308616E1-D612-E42B-76AF-A251B9B9A11B}"/>
          </ac:spMkLst>
        </pc:spChg>
        <pc:spChg chg="mod">
          <ac:chgData name="REYES BETTANCOURT MATÍAS I" userId="d3dbd50a-6c4b-4758-986a-7b2e0f943e08" providerId="ADAL" clId="{9B6448A4-7F56-4B77-8768-C9F100E971B5}" dt="2026-09-02T00:23:16.442" v="57" actId="20577"/>
          <ac:spMkLst>
            <pc:docMk/>
            <pc:sldMk cId="1419707831" sldId="287"/>
            <ac:spMk id="60" creationId="{00000000-0000-0000-0000-000000000000}"/>
          </ac:spMkLst>
        </pc:spChg>
      </pc:sldChg>
      <pc:sldChg chg="modSp add mod">
        <pc:chgData name="REYES BETTANCOURT MATÍAS I" userId="d3dbd50a-6c4b-4758-986a-7b2e0f943e08" providerId="ADAL" clId="{9B6448A4-7F56-4B77-8768-C9F100E971B5}" dt="2026-09-02T00:25:28.762" v="148" actId="20577"/>
        <pc:sldMkLst>
          <pc:docMk/>
          <pc:sldMk cId="3568077617" sldId="297"/>
        </pc:sldMkLst>
        <pc:spChg chg="mod">
          <ac:chgData name="REYES BETTANCOURT MATÍAS I" userId="d3dbd50a-6c4b-4758-986a-7b2e0f943e08" providerId="ADAL" clId="{9B6448A4-7F56-4B77-8768-C9F100E971B5}" dt="2026-09-02T00:25:28.762" v="148" actId="20577"/>
          <ac:spMkLst>
            <pc:docMk/>
            <pc:sldMk cId="3568077617" sldId="297"/>
            <ac:spMk id="6" creationId="{9FC48981-E6D7-1E95-AF9F-AFCEF961D621}"/>
          </ac:spMkLst>
        </pc:spChg>
        <pc:spChg chg="mod">
          <ac:chgData name="REYES BETTANCOURT MATÍAS I" userId="d3dbd50a-6c4b-4758-986a-7b2e0f943e08" providerId="ADAL" clId="{9B6448A4-7F56-4B77-8768-C9F100E971B5}" dt="2026-09-02T00:25:21.545" v="121" actId="20577"/>
          <ac:spMkLst>
            <pc:docMk/>
            <pc:sldMk cId="3568077617" sldId="297"/>
            <ac:spMk id="17" creationId="{B1ADA39A-603C-8BBA-CD97-8BBED04C22C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347D60-E39B-E041-B6CE-3FDC1A8BB989}" type="datetimeFigureOut">
              <a:rPr lang="es-ES_tradnl" smtClean="0"/>
              <a:t>01/09/2026</a:t>
            </a:fld>
            <a:endParaRPr lang="es-ES_tradnl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AD1966-643A-ED45-BFF9-B0FE18A32E2B}" type="slidenum">
              <a:rPr lang="es-ES_tradnl" smtClean="0"/>
              <a:t>‹Nº›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963301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Saludos estimados profesores y compañeros y compañeras, mi nombre es Matías Reyes y hoy les presentaré mi proyecto de título, el cual consiste en el desarrollo de un sistema para el control seguro de ingreso y salida de estudiantes en instituciones educativas, al cual llamaremos Validgate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D1966-643A-ED45-BFF9-B0FE18A32E2B}" type="slidenum">
              <a:rPr lang="es-ES_tradnl" smtClean="0"/>
              <a:t>1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5509890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A continuación, se presentan la tabla de contenidos de lo que se verá en esta defensa.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D1966-643A-ED45-BFF9-B0FE18A32E2B}" type="slidenum">
              <a:rPr lang="es-ES_tradnl" smtClean="0"/>
              <a:t>2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6473323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Actualmente, en muchos establecimientos educacionales, el control de ingreso y salida de estudiantes se realiza mediante procesos manuales</a:t>
            </a:r>
          </a:p>
          <a:p>
            <a:endParaRPr lang="es-ES" dirty="0"/>
          </a:p>
          <a:p>
            <a:r>
              <a:rPr lang="es-ES" dirty="0"/>
              <a:t>Uno de los principales resultados indica que aproximadamente un 33% de los 45 encuestados percibe falta de orden en el proceso.</a:t>
            </a:r>
          </a:p>
          <a:p>
            <a:endParaRPr lang="es-ES" dirty="0"/>
          </a:p>
          <a:p>
            <a:r>
              <a:rPr lang="es-ES" dirty="0"/>
              <a:t>Además, se identificaron dificultades en horarios de alta demanda y una alta dependencia de validación manual.</a:t>
            </a:r>
          </a:p>
          <a:p>
            <a:endParaRPr lang="es-ES" dirty="0"/>
          </a:p>
          <a:p>
            <a:r>
              <a:rPr lang="es-ES" dirty="0"/>
              <a:t>Esto implica que la validación de las personas que retiran o acompañan a los estudiantes depende principalmente del reconocimiento visual o del criterio del personal.</a:t>
            </a:r>
          </a:p>
          <a:p>
            <a:endParaRPr lang="es-ES" dirty="0"/>
          </a:p>
          <a:p>
            <a:r>
              <a:rPr lang="es-ES" dirty="0"/>
              <a:t>En condiciones normales esto puede funcionar, pero en escenarios de alta demanda, como horarios de salida, se vuelve complejo mantener un control adecuado.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D1966-643A-ED45-BFF9-B0FE18A32E2B}" type="slidenum">
              <a:rPr lang="es-ES_tradnl" smtClean="0"/>
              <a:t>3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7116876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Para entender mejor el problema, se realizó un análisis de causa y efecto.</a:t>
            </a:r>
          </a:p>
          <a:p>
            <a:endParaRPr lang="es-ES" dirty="0"/>
          </a:p>
          <a:p>
            <a:r>
              <a:rPr lang="es-ES" dirty="0"/>
              <a:t>Aquí se pueden observar causas como el factor humano, la falta de tecnología, debilidades en los procesos, problemas en la gestión de la información y aspectos institucionales.</a:t>
            </a:r>
          </a:p>
          <a:p>
            <a:endParaRPr lang="es-ES" dirty="0"/>
          </a:p>
          <a:p>
            <a:r>
              <a:rPr lang="es-ES" dirty="0"/>
              <a:t>Esto demuestra que el problema no tiene una única causa, sino que es el resultado de múltiples factores interrelacionados.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D1966-643A-ED45-BFF9-B0FE18A32E2B}" type="slidenum">
              <a:rPr lang="es-ES_tradnl" smtClean="0"/>
              <a:t>4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1228836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En base a lo anterior, se define como objetivo general …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D1966-643A-ED45-BFF9-B0FE18A32E2B}" type="slidenum">
              <a:rPr lang="es-ES_tradnl" smtClean="0"/>
              <a:t>5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7960112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Los objetivos específicos se estructuran en cuatro etapas progresivas y cada uno cuenta con una métrica concreta de cumplimiento.</a:t>
            </a:r>
          </a:p>
          <a:p>
            <a:r>
              <a:rPr lang="es-CL" dirty="0"/>
              <a:t>Primero, se analiza el proceso actual de ingreso, salida y retiro, identificando al menos cinco debilidades respaldadas por evidencia.</a:t>
            </a:r>
          </a:p>
          <a:p>
            <a:r>
              <a:rPr lang="es-CL" dirty="0"/>
              <a:t>Luego, se diseña el modelo de información y la arquitectura de VALIDGATE, incluyendo las entidades del sistema, sus relaciones, componentes y mecanismos de validación.</a:t>
            </a:r>
          </a:p>
          <a:p>
            <a:r>
              <a:rPr lang="es-CL" dirty="0"/>
              <a:t>El tercer objetivo corresponde al desarrollo del prototipo funcional, donde se debe demostrar al menos un flujo completo de ingreso, salida o retiro, con persistencia y trazabilidad de la información.</a:t>
            </a:r>
          </a:p>
          <a:p>
            <a:r>
              <a:rPr lang="es-CL" dirty="0"/>
              <a:t>Finalmente, se evalúa el prototipo mediante escenarios controlados, incluyendo casos válidos, inválidos y de contingencia.</a:t>
            </a:r>
          </a:p>
          <a:p>
            <a:r>
              <a:rPr lang="es-CL" dirty="0"/>
              <a:t>De esta forma, los objetivos permiten avanzar desde la identificación del problema hasta la construcción y validación medible de la solución.</a:t>
            </a:r>
          </a:p>
          <a:p>
            <a:r>
              <a:rPr lang="es-ES" dirty="0"/>
              <a:t>.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D1966-643A-ED45-BFF9-B0FE18A32E2B}" type="slidenum">
              <a:rPr lang="es-ES_tradnl" smtClean="0"/>
              <a:t>6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1990524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En esta diapositiva se resumen los principales alcances y limitaciones del proyecto.</a:t>
            </a:r>
          </a:p>
          <a:p>
            <a:r>
              <a:rPr lang="es-CL" dirty="0"/>
              <a:t>VALIDGATE se desarrolla como un MVP funcional que contempla autenticación por rol, gestión de estudiantes y apoderados, registro de ingresos, salidas y retiros, mecanismos de validación mediante QR, PIN y contingencia manual, además de trazabilidad de los eventos.</a:t>
            </a:r>
          </a:p>
          <a:p>
            <a:r>
              <a:rPr lang="es-CL" dirty="0"/>
              <a:t>Sin embargo, las pruebas se realizan en un entorno controlado y con datos ficticios, por lo que no representan completamente una operación institucional real.</a:t>
            </a:r>
          </a:p>
          <a:p>
            <a:r>
              <a:rPr lang="es-CL" dirty="0"/>
              <a:t>También se considera la Ley 21.719 desde el diseño, especialmente en aspectos de privacidad y protección de datos, pero el proyecto no certifica cumplimiento productivo.</a:t>
            </a:r>
          </a:p>
          <a:p>
            <a:r>
              <a:rPr lang="es-CL" dirty="0"/>
              <a:t>Una futura implementación en un colegio requeriría definir formalmente las responsabilidades entre la institución, como responsable del tratamiento, y el proveedor tecnológico, además de evaluar aspectos contractuales, técnicos y normativos antes de su puesta en producción.</a:t>
            </a: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D1966-643A-ED45-BFF9-B0FE18A32E2B}" type="slidenum">
              <a:rPr lang="es-ES_tradnl" smtClean="0"/>
              <a:t>7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1212298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93641-DD49-E748-6B50-8B3517553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09BA2CA-BE35-5940-858F-F569777356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F68A342-83F4-BBE9-BD44-45B6DF6C0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ES" dirty="0"/>
              <a:t>El proyecto se desarrolla utilizando un enfoque ágil basado en Scrumban</a:t>
            </a:r>
          </a:p>
          <a:p>
            <a:pPr algn="l"/>
            <a:endParaRPr lang="es-ES" dirty="0"/>
          </a:p>
          <a:p>
            <a:pPr algn="l"/>
            <a:r>
              <a:rPr lang="es-ES" dirty="0"/>
              <a:t>Por una parte, se mantiene la planificación estructurada de Scrum, basada en la definición de tareas y objetivos del proyecto.</a:t>
            </a:r>
          </a:p>
          <a:p>
            <a:pPr algn="l"/>
            <a:endParaRPr lang="es-ES" dirty="0"/>
          </a:p>
          <a:p>
            <a:pPr algn="l"/>
            <a:r>
              <a:rPr lang="es-ES" dirty="0"/>
              <a:t>Por otra, se incorpora un flujo continuo de trabajo propio de Kanban, lo que permite gestionar las tareas de manera flexible.</a:t>
            </a:r>
          </a:p>
          <a:p>
            <a:pPr algn="l"/>
            <a:endParaRPr lang="es-ES" dirty="0"/>
          </a:p>
          <a:p>
            <a:pPr algn="l"/>
            <a:r>
              <a:rPr lang="es-ES" dirty="0"/>
              <a:t>Este enfoque es adecuado para el proyecto, ya que permite priorizar las funcionalidades y adaptarse a los resultados obtenidos durante las pruebas.</a:t>
            </a:r>
          </a:p>
          <a:p>
            <a:pPr algn="l"/>
            <a:endParaRPr lang="es-ES" dirty="0"/>
          </a:p>
          <a:p>
            <a:pPr algn="l"/>
            <a:r>
              <a:rPr lang="es-ES" dirty="0"/>
              <a:t>Se utilizaron fases como Backlog, Refinamiento, Desarrollo, pruebas e Implementado para marcar el progreso</a:t>
            </a:r>
          </a:p>
          <a:p>
            <a:pPr algn="l"/>
            <a:endParaRPr lang="es-ES" dirty="0"/>
          </a:p>
          <a:p>
            <a:pPr algn="l"/>
            <a:r>
              <a:rPr lang="es-ES" dirty="0"/>
              <a:t>De esta forma, se logra una ejecución progresiva y controlada del sistema.</a:t>
            </a:r>
          </a:p>
          <a:p>
            <a:pPr algn="l"/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F87971-8A82-213E-53D6-5B3FE395BC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D1966-643A-ED45-BFF9-B0FE18A32E2B}" type="slidenum">
              <a:rPr lang="es-ES_tradnl" smtClean="0"/>
              <a:t>8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4281287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2E438-3973-075B-0996-0E14E437D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386A89F-0AE3-8187-FDC5-C8CE7095B0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E64A3DE-E438-EA08-A1D1-64970E9453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VALIDGATE fue desarrollada mediante modelo por capas.</a:t>
            </a:r>
          </a:p>
          <a:p>
            <a:endParaRPr lang="es-E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Primero está la capa de presentación, donde los usuarios interactúan con la aplicación mediante una interfaz web construida con React, Next.js y Tailwind.</a:t>
            </a:r>
          </a:p>
          <a:p>
            <a:endParaRPr lang="es-E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Luego está la capa de aplicación, donde se gestiona la lógica del sistema, como acciones del servidor, validaciones, middleware y control de sesión.</a:t>
            </a:r>
          </a:p>
          <a:p>
            <a:endParaRPr lang="es-E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Después se encuentra la capa de datos, apoyada en Supabase, que permite manejar autenticación, acceso seguro y reglas como Row Level Security.</a:t>
            </a:r>
          </a:p>
          <a:p>
            <a:endParaRPr lang="es-E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información se almacena en PostgreSQL, donde se mantienen las tablas relacionales, registros, logs y eventos del sistema.</a:t>
            </a:r>
          </a:p>
          <a:p>
            <a:endParaRPr lang="es-E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Finalmente, se incorpora una capa transversal de trazabilidad y seguridad, que permite mantener historial, auditoría, alertas y registro del método de validación utilizado.</a:t>
            </a:r>
          </a:p>
          <a:p>
            <a:endParaRPr lang="es-E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resumen, esta arquitectura permite separar responsabilidades, mantener seguridad por rol y asegurar que cada evento quede registrado de forma trazable.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B146481-EBB6-BA04-1BEF-11BD697C15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D1966-643A-ED45-BFF9-B0FE18A32E2B}" type="slidenum">
              <a:rPr lang="es-ES_tradnl" smtClean="0"/>
              <a:t>9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40237459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43E74-5E88-1D55-EFC9-F17776474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B47C59D-4070-CB15-BE67-B70E44A9F3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28B2BB2-8C2D-52A7-AEB0-909D0D09BC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“Este flujo TO-BE resume los tres escenarios principales de operación de VALIDGATE.</a:t>
            </a:r>
          </a:p>
          <a:p>
            <a:r>
              <a:rPr lang="es-CL" dirty="0"/>
              <a:t>El primero corresponde al registro manual desde portería, donde se consulta el estado del estudiante y se aplica una validación autorizada.</a:t>
            </a:r>
          </a:p>
          <a:p>
            <a:r>
              <a:rPr lang="es-CL" dirty="0"/>
              <a:t>El segundo corresponde a estudiantes con salida autónoma, quienes pueden generar un código QR siempre que cumplan las condiciones definidas.</a:t>
            </a:r>
          </a:p>
          <a:p>
            <a:r>
              <a:rPr lang="es-CL" dirty="0"/>
              <a:t>El tercer escenario corresponde a estudiantes que requieren autorización o quieran ser retirados. En este caso, se valida el proceso mediante PIN entre el estudiante y el apoderado. Si existe un error, el sistema permite hasta tres intentos adicionales; si todos fallan, la solicitud se rechaza y queda trazabilidad del evento.</a:t>
            </a:r>
          </a:p>
          <a:p>
            <a:r>
              <a:rPr lang="es-CL" dirty="0"/>
              <a:t>Finalmente, los flujos válidos convergen en la evaluación de reglas institucionales, donde el sistema registra el evento como aprobado o rechazado y actualiza el estado del estudiante.”</a:t>
            </a:r>
          </a:p>
          <a:p>
            <a:pPr algn="l"/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3232BD1-FD72-6FBC-76EC-E21A0C3883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D1966-643A-ED45-BFF9-B0FE18A32E2B}" type="slidenum">
              <a:rPr lang="es-ES_tradnl" smtClean="0"/>
              <a:t>10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7724681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“En esta diapositiva se muestran dos principios importantes de VALIDGATE: seguridad y trazabilidad.</a:t>
            </a:r>
          </a:p>
          <a:p>
            <a:r>
              <a:rPr lang="es-CL" dirty="0"/>
              <a:t>En primer lugar, el sistema restringe las acciones según el rol del usuario. Por ejemplo, si una persona intenta acceder a una sección que no le corresponde, el sistema bloquea esa acción. Además, los eventos sensibles, como una salida, requieren una validación previa según las reglas definidas.</a:t>
            </a:r>
          </a:p>
          <a:p>
            <a:r>
              <a:rPr lang="es-CL" dirty="0"/>
              <a:t>Por otra parte, cada evento queda registrado con información como responsable, fecha, hora, método de validación y resultado.</a:t>
            </a:r>
          </a:p>
          <a:p>
            <a:r>
              <a:rPr lang="es-CL" dirty="0"/>
              <a:t>Esto permite reconstruir posteriormente qué ocurrió, quién participó y bajo qué condiciones se realizó la acción.</a:t>
            </a:r>
          </a:p>
          <a:p>
            <a:r>
              <a:rPr lang="es-CL"/>
              <a:t>De esta forma, VALIDGATE no solo controla el acceso, sino que también genera evidencia útil para auditoría y revisión institucional.”</a:t>
            </a: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D1966-643A-ED45-BFF9-B0FE18A32E2B}" type="slidenum">
              <a:rPr lang="es-ES_tradnl" smtClean="0"/>
              <a:t>11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8036167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ES" dirty="0"/>
              <a:t>Esta pantalla corresponde a la vista del estudiante.</a:t>
            </a:r>
          </a:p>
          <a:p>
            <a:pPr algn="l"/>
            <a:endParaRPr lang="es-ES" dirty="0"/>
          </a:p>
          <a:p>
            <a:pPr algn="l"/>
            <a:r>
              <a:rPr lang="es-ES" dirty="0"/>
              <a:t>En este caso, la interfaz debe ser más limitada, ya que el estudiante no debe tener control administrativo ni capacidad para autorizar su propio retiro. A menos claro, que el apoderado le haya otorgado permiso para salir solo mediante un QR.</a:t>
            </a: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D1966-643A-ED45-BFF9-B0FE18A32E2B}" type="slidenum">
              <a:rPr lang="es-ES_tradnl" smtClean="0"/>
              <a:t>12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2160266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A continuación, procederé a hacer una demostración de estos tres casos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D1966-643A-ED45-BFF9-B0FE18A32E2B}" type="slidenum">
              <a:rPr lang="es-ES_tradnl" smtClean="0"/>
              <a:t>13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3862669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1A638-BB91-77DC-DA87-3AA725574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42648A0-6A6B-432D-DEEA-216D950675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4949F6-ADDC-652C-1172-3A085E1C1C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A continuación, procederé a hacer una demostración de estos tres casos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D395023-89D0-AD15-35D2-6C78FA251F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D1966-643A-ED45-BFF9-B0FE18A32E2B}" type="slidenum">
              <a:rPr lang="es-ES_tradnl" smtClean="0"/>
              <a:t>14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101874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82A7F-9C8D-114F-8A8B-CB8C2E997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A74103F-0DED-65E9-AAD6-F51208F14A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381BE12-790D-B04F-5EFD-794006FDE2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s-ES" dirty="0"/>
          </a:p>
          <a:p>
            <a:r>
              <a:rPr lang="es-CL" dirty="0"/>
              <a:t>“En conclusión, VALIDGATE responde a la problemática identificada mediante una solución que permite estructurar y digitalizar el proceso de ingreso, salida y retiro de estudiantes.</a:t>
            </a:r>
          </a:p>
          <a:p>
            <a:r>
              <a:rPr lang="es-CL" dirty="0"/>
              <a:t>El resultado es un MVP funcional que incorpora control por roles, mecanismos de validación y trazabilidad de los eventos, reduciendo la dependencia de procedimientos exclusivamente manuales.</a:t>
            </a:r>
          </a:p>
          <a:p>
            <a:r>
              <a:rPr lang="es-CL" dirty="0"/>
              <a:t>El aporte principal no consiste solamente en digitalizar un registro, sino en centralizar la información y establecer un proceso controlado donde las acciones puedan ser posteriormente verificadas.</a:t>
            </a:r>
          </a:p>
          <a:p>
            <a:r>
              <a:rPr lang="es-CL" dirty="0"/>
              <a:t>Como siguiente etapa, el proyecto puede evolucionar hacia una validación piloto dentro de una institución educativa, incorporando los ajustes técnicos, operacionales y normativos necesarios para una eventual puesta en producción.</a:t>
            </a:r>
          </a:p>
          <a:p>
            <a:r>
              <a:rPr lang="es-CL" dirty="0"/>
              <a:t>En definitiva, VALIDGATE busca aportar mayor seguridad, control y trazabilidad al proceso escolar.”</a:t>
            </a:r>
          </a:p>
          <a:p>
            <a:pPr algn="l"/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C7A27D9-EDCD-CA3E-8DFB-60CE9520C8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D1966-643A-ED45-BFF9-B0FE18A32E2B}" type="slidenum">
              <a:rPr lang="es-ES_tradnl" smtClean="0"/>
              <a:t>15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42283665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F0DA9-151E-8EC2-412F-0843A7FBB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EA62B14-0279-0CD3-D3F8-D0CA1151B9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1302E07-D1F8-2945-8D17-4667B3A213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3C6EC75-1468-D686-429B-C3BCFB90D3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D1966-643A-ED45-BFF9-B0FE18A32E2B}" type="slidenum">
              <a:rPr lang="es-ES_tradnl" smtClean="0"/>
              <a:t>16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897713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_tradnl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01/09/2026</a:t>
            </a:fld>
            <a:endParaRPr lang="es-ES_trad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01/09/2026</a:t>
            </a:fld>
            <a:endParaRPr lang="es-ES_trad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01/09/2026</a:t>
            </a:fld>
            <a:endParaRPr lang="es-ES_trad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01/09/2026</a:t>
            </a:fld>
            <a:endParaRPr lang="es-ES_tradn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01/09/2026</a:t>
            </a:fld>
            <a:endParaRPr lang="es-ES_tradnl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01/09/2026</a:t>
            </a:fld>
            <a:endParaRPr lang="es-ES_trad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01/09/2026</a:t>
            </a:fld>
            <a:endParaRPr lang="es-ES_tradnl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01/09/2026</a:t>
            </a:fld>
            <a:endParaRPr lang="es-ES_tradn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_tradnl" dirty="0"/>
              <a:t>Arrastre la imagen al marcador de posición o haga clic en el icono para agregarla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01/09/2026</a:t>
            </a:fld>
            <a:endParaRPr lang="es-ES_tradn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01/09/2026</a:t>
            </a:fld>
            <a:endParaRPr lang="es-ES_trad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01/09/2026</a:t>
            </a:fld>
            <a:endParaRPr lang="es-ES_trad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D36221-589F-2846-B89B-D09559D774BF}" type="datetimeFigureOut">
              <a:rPr lang="es-ES_tradnl" smtClean="0"/>
              <a:t>01/09/2026</a:t>
            </a:fld>
            <a:endParaRPr lang="es-ES_trad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2F6F5-E16D-F340-A90C-ABCF032D59B6}" type="slidenum">
              <a:rPr lang="es-ES_tradnl" smtClean="0"/>
              <a:t>‹Nº›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034429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5"/>
          <p:cNvCxnSpPr/>
          <p:nvPr/>
        </p:nvCxnSpPr>
        <p:spPr>
          <a:xfrm>
            <a:off x="492141" y="3591697"/>
            <a:ext cx="777864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/>
          <p:cNvCxnSpPr/>
          <p:nvPr/>
        </p:nvCxnSpPr>
        <p:spPr>
          <a:xfrm flipH="1">
            <a:off x="2186081" y="2158313"/>
            <a:ext cx="1" cy="127315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/>
          <p:cNvSpPr txBox="1"/>
          <p:nvPr/>
        </p:nvSpPr>
        <p:spPr>
          <a:xfrm>
            <a:off x="2285735" y="1551460"/>
            <a:ext cx="7176725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4000" dirty="0">
                <a:solidFill>
                  <a:schemeClr val="bg1"/>
                </a:solidFill>
                <a:ea typeface="+mn-lt"/>
                <a:cs typeface="+mn-lt"/>
              </a:rPr>
              <a:t>VALIDGATE - SISTEMA DE CONTROL DE INGRESO Y SALIDA ESTUDIANTIL</a:t>
            </a:r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6096001" y="3680142"/>
            <a:ext cx="2721428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dirty="0">
                <a:solidFill>
                  <a:schemeClr val="bg1"/>
                </a:solidFill>
              </a:rPr>
              <a:t>Autor</a:t>
            </a:r>
          </a:p>
          <a:p>
            <a:r>
              <a:rPr lang="es-ES_tradnl" sz="1200" dirty="0">
                <a:solidFill>
                  <a:schemeClr val="bg1"/>
                </a:solidFill>
              </a:rPr>
              <a:t>Matías Ignacio Reyes Bettancourt</a:t>
            </a:r>
          </a:p>
          <a:p>
            <a:endParaRPr lang="es-ES_tradnl" sz="1100" dirty="0">
              <a:solidFill>
                <a:schemeClr val="bg1"/>
              </a:solidFill>
            </a:endParaRP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05" b="24764"/>
          <a:stretch/>
        </p:blipFill>
        <p:spPr>
          <a:xfrm>
            <a:off x="-14013" y="0"/>
            <a:ext cx="9172026" cy="1435697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46510" r="153" b="5990"/>
          <a:stretch/>
        </p:blipFill>
        <p:spPr>
          <a:xfrm>
            <a:off x="-14013" y="5486719"/>
            <a:ext cx="9172026" cy="1371281"/>
          </a:xfrm>
          <a:prstGeom prst="rect">
            <a:avLst/>
          </a:prstGeom>
        </p:spPr>
      </p:pic>
      <p:sp>
        <p:nvSpPr>
          <p:cNvPr id="16" name="CuadroTexto 15"/>
          <p:cNvSpPr txBox="1"/>
          <p:nvPr/>
        </p:nvSpPr>
        <p:spPr>
          <a:xfrm>
            <a:off x="492141" y="5858386"/>
            <a:ext cx="17615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dirty="0">
                <a:solidFill>
                  <a:schemeClr val="bg1"/>
                </a:solidFill>
                <a:ea typeface="Gungsuh" charset="-127"/>
                <a:cs typeface="Gungsuh" charset="-127"/>
              </a:rPr>
              <a:t>Fecha de la presentación</a:t>
            </a:r>
          </a:p>
          <a:p>
            <a:pPr algn="ctr"/>
            <a:r>
              <a:rPr lang="es-ES_tradnl" sz="1200" b="1" dirty="0">
                <a:solidFill>
                  <a:schemeClr val="bg1"/>
                </a:solidFill>
                <a:ea typeface="Gungsuh" charset="-127"/>
                <a:cs typeface="Gungsuh" charset="-127"/>
              </a:rPr>
              <a:t>Mayo 2026</a:t>
            </a:r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349" y="2158313"/>
            <a:ext cx="1279083" cy="1189591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35EC2E26-B73F-762B-2FDB-A355282D48D7}"/>
              </a:ext>
            </a:extLst>
          </p:cNvPr>
          <p:cNvSpPr txBox="1"/>
          <p:nvPr/>
        </p:nvSpPr>
        <p:spPr>
          <a:xfrm>
            <a:off x="745221" y="3680142"/>
            <a:ext cx="188912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dirty="0">
                <a:solidFill>
                  <a:schemeClr val="bg1"/>
                </a:solidFill>
              </a:rPr>
              <a:t>Profesor</a:t>
            </a:r>
          </a:p>
          <a:p>
            <a:r>
              <a:rPr lang="es-ES_tradnl" sz="1200" dirty="0">
                <a:solidFill>
                  <a:schemeClr val="bg1"/>
                </a:solidFill>
              </a:rPr>
              <a:t>Francisco Pérez Barahona</a:t>
            </a:r>
          </a:p>
          <a:p>
            <a:endParaRPr lang="es-ES_tradnl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7038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A435CB0A-C344-586A-7FA2-01265EB272A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69D7E099-000C-36A2-CEEA-5CB6745984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4285AE97-E056-1A96-53FB-57A48278C5AC}"/>
              </a:ext>
            </a:extLst>
          </p:cNvPr>
          <p:cNvSpPr txBox="1"/>
          <p:nvPr/>
        </p:nvSpPr>
        <p:spPr>
          <a:xfrm>
            <a:off x="108722" y="127957"/>
            <a:ext cx="4341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1"/>
                </a:solidFill>
                <a:ea typeface="Gungsuh" charset="-127"/>
                <a:cs typeface="Gungsuh" charset="-127"/>
              </a:rPr>
              <a:t>Tabla de contenidos</a:t>
            </a:r>
          </a:p>
        </p:txBody>
      </p:sp>
      <p:sp>
        <p:nvSpPr>
          <p:cNvPr id="50" name="TablaContenidoUnica"/>
          <p:cNvSpPr txBox="1"/>
          <p:nvPr/>
        </p:nvSpPr>
        <p:spPr>
          <a:xfrm>
            <a:off x="440125" y="930844"/>
            <a:ext cx="3246050" cy="5074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ct val="150000"/>
              </a:lnSpc>
            </a:pPr>
            <a:r>
              <a:rPr lang="es-CL" sz="1800" dirty="0">
                <a:solidFill>
                  <a:srgbClr val="1F1F1F"/>
                </a:solidFill>
                <a:latin typeface="Arial"/>
              </a:rPr>
              <a:t>➢  Contextualización</a:t>
            </a:r>
          </a:p>
          <a:p>
            <a:pPr marL="0" indent="0">
              <a:lnSpc>
                <a:spcPct val="150000"/>
              </a:lnSpc>
            </a:pPr>
            <a:r>
              <a:rPr lang="es-CL" sz="1800" dirty="0">
                <a:solidFill>
                  <a:srgbClr val="1F1F1F"/>
                </a:solidFill>
                <a:latin typeface="Arial"/>
              </a:rPr>
              <a:t>➢  Problemática</a:t>
            </a:r>
          </a:p>
          <a:p>
            <a:pPr marL="0" indent="0">
              <a:lnSpc>
                <a:spcPct val="150000"/>
              </a:lnSpc>
            </a:pPr>
            <a:r>
              <a:rPr lang="es-CL" sz="1800" dirty="0">
                <a:solidFill>
                  <a:srgbClr val="1F1F1F"/>
                </a:solidFill>
                <a:latin typeface="Arial"/>
              </a:rPr>
              <a:t>➢  Objetivo general</a:t>
            </a:r>
          </a:p>
          <a:p>
            <a:pPr marL="0" indent="0">
              <a:lnSpc>
                <a:spcPct val="150000"/>
              </a:lnSpc>
            </a:pPr>
            <a:r>
              <a:rPr lang="es-CL" sz="1800" dirty="0">
                <a:solidFill>
                  <a:srgbClr val="1F1F1F"/>
                </a:solidFill>
                <a:latin typeface="Arial"/>
              </a:rPr>
              <a:t>➢  Objetivos específicos</a:t>
            </a:r>
          </a:p>
          <a:p>
            <a:pPr marL="0" indent="0">
              <a:lnSpc>
                <a:spcPct val="150000"/>
              </a:lnSpc>
            </a:pPr>
            <a:r>
              <a:rPr lang="es-CL" sz="1800" dirty="0">
                <a:solidFill>
                  <a:srgbClr val="1F1F1F"/>
                </a:solidFill>
                <a:latin typeface="Arial"/>
              </a:rPr>
              <a:t>➢  Alcances y limitaciones</a:t>
            </a:r>
          </a:p>
          <a:p>
            <a:pPr marL="0" indent="0">
              <a:lnSpc>
                <a:spcPct val="150000"/>
              </a:lnSpc>
            </a:pPr>
            <a:r>
              <a:rPr lang="es-CL" sz="1800" dirty="0">
                <a:solidFill>
                  <a:srgbClr val="1F1F1F"/>
                </a:solidFill>
                <a:latin typeface="Arial"/>
              </a:rPr>
              <a:t>➢  Metodología</a:t>
            </a:r>
          </a:p>
          <a:p>
            <a:pPr marL="0" indent="0">
              <a:lnSpc>
                <a:spcPct val="150000"/>
              </a:lnSpc>
            </a:pPr>
            <a:r>
              <a:rPr lang="es-CL" sz="1800" dirty="0">
                <a:solidFill>
                  <a:srgbClr val="1F1F1F"/>
                </a:solidFill>
                <a:latin typeface="Arial"/>
              </a:rPr>
              <a:t>➢  Arquitectura de alto nivel</a:t>
            </a:r>
          </a:p>
          <a:p>
            <a:pPr marL="0" indent="0">
              <a:lnSpc>
                <a:spcPct val="150000"/>
              </a:lnSpc>
            </a:pPr>
            <a:r>
              <a:rPr lang="es-CL" sz="1800" dirty="0">
                <a:solidFill>
                  <a:srgbClr val="1F1F1F"/>
                </a:solidFill>
                <a:latin typeface="Arial"/>
              </a:rPr>
              <a:t>➢  Casos de uso</a:t>
            </a:r>
          </a:p>
          <a:p>
            <a:pPr marL="0" indent="0">
              <a:lnSpc>
                <a:spcPct val="150000"/>
              </a:lnSpc>
            </a:pPr>
            <a:r>
              <a:rPr lang="es-CL" sz="1800" dirty="0">
                <a:solidFill>
                  <a:srgbClr val="1F1F1F"/>
                </a:solidFill>
                <a:latin typeface="Arial"/>
              </a:rPr>
              <a:t>➢  Seguridad y trazabilidad</a:t>
            </a:r>
          </a:p>
          <a:p>
            <a:pPr marL="0" indent="0">
              <a:lnSpc>
                <a:spcPct val="150000"/>
              </a:lnSpc>
            </a:pPr>
            <a:r>
              <a:rPr lang="es-CL" sz="1800" dirty="0">
                <a:solidFill>
                  <a:srgbClr val="1F1F1F"/>
                </a:solidFill>
                <a:latin typeface="Arial"/>
              </a:rPr>
              <a:t>➢  Evidencia</a:t>
            </a:r>
          </a:p>
          <a:p>
            <a:pPr marL="0" indent="0">
              <a:lnSpc>
                <a:spcPct val="150000"/>
              </a:lnSpc>
            </a:pPr>
            <a:r>
              <a:rPr lang="es-CL" sz="1800" dirty="0">
                <a:solidFill>
                  <a:srgbClr val="1F1F1F"/>
                </a:solidFill>
                <a:latin typeface="Arial"/>
              </a:rPr>
              <a:t>➢  MVP</a:t>
            </a:r>
          </a:p>
          <a:p>
            <a:pPr marL="0" indent="0">
              <a:lnSpc>
                <a:spcPct val="150000"/>
              </a:lnSpc>
            </a:pPr>
            <a:r>
              <a:rPr lang="es-CL" sz="1800" dirty="0">
                <a:solidFill>
                  <a:srgbClr val="1F1F1F"/>
                </a:solidFill>
                <a:latin typeface="Arial"/>
              </a:rPr>
              <a:t>➢  Conclusión</a:t>
            </a:r>
          </a:p>
        </p:txBody>
      </p:sp>
    </p:spTree>
    <p:extLst>
      <p:ext uri="{BB962C8B-B14F-4D97-AF65-F5344CB8AC3E}">
        <p14:creationId xmlns:p14="http://schemas.microsoft.com/office/powerpoint/2010/main" val="3263109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108722" y="127957"/>
            <a:ext cx="28293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sz="2800" b="1" dirty="0">
                <a:solidFill>
                  <a:schemeClr val="bg1"/>
                </a:solidFill>
                <a:ea typeface="Gungsuh" charset="-127"/>
                <a:cs typeface="Gungsuh" charset="-127"/>
              </a:rPr>
              <a:t>Contextualización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8F55BF5-BCAA-EC9F-2201-ADBC2782565C}"/>
              </a:ext>
            </a:extLst>
          </p:cNvPr>
          <p:cNvSpPr txBox="1"/>
          <p:nvPr/>
        </p:nvSpPr>
        <p:spPr>
          <a:xfrm>
            <a:off x="274423" y="930844"/>
            <a:ext cx="859515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Actualmente, el control de ingreso y salida de estudiantes en instituciones educativas se realiza mediante procesos manuales, basados en el reconocimiento visual y el criterio del personal.</a:t>
            </a:r>
          </a:p>
          <a:p>
            <a:endParaRPr lang="es-ES" dirty="0"/>
          </a:p>
          <a:p>
            <a:r>
              <a:rPr lang="es-ES" dirty="0"/>
              <a:t>Esto genera dificultades en el control, validación de identidad y trazabilidad de los eventos.</a:t>
            </a:r>
            <a:endParaRPr lang="es-CL" dirty="0"/>
          </a:p>
        </p:txBody>
      </p:sp>
      <p:pic>
        <p:nvPicPr>
          <p:cNvPr id="3" name="Imagen 2" descr="Gráfico de respuestas de formularios. Título de la pregunta: ¿Qué problema consideras más frecuente en el proceso de la entrada y/o salida de los estudiantes?. Número de respuestas: 45 respuestas.">
            <a:extLst>
              <a:ext uri="{FF2B5EF4-FFF2-40B4-BE49-F238E27FC236}">
                <a16:creationId xmlns:a16="http://schemas.microsoft.com/office/drawing/2014/main" id="{B903C64D-F76E-1E7E-7CB8-8FB8EC8638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656" y="2660003"/>
            <a:ext cx="6872287" cy="3267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707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4D9973-753D-8397-B078-E3520534A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61056946-7184-FCA8-F835-D0E032951FF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51F10D0A-A307-2072-54D2-AAD40685C9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C7C84E41-FF21-614D-B5BF-8A92CB2B9C18}"/>
              </a:ext>
            </a:extLst>
          </p:cNvPr>
          <p:cNvSpPr txBox="1"/>
          <p:nvPr/>
        </p:nvSpPr>
        <p:spPr>
          <a:xfrm>
            <a:off x="108722" y="127268"/>
            <a:ext cx="37719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1"/>
                </a:solidFill>
                <a:ea typeface="Gungsuh" charset="-127"/>
                <a:cs typeface="Gungsuh" charset="-127"/>
              </a:rPr>
              <a:t>Problemática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33C5043-C51D-F3B9-CC91-6938980691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4013" y="817538"/>
            <a:ext cx="9144000" cy="5450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116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ED138E-FE02-D43B-22BE-D284E2327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1ED7027D-CBC7-8F23-061E-100EAF0610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FB7B1E28-9D89-8B19-397F-BAD16BBF5F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C247028C-978E-BB47-CBA8-54D79EEBCB3C}"/>
              </a:ext>
            </a:extLst>
          </p:cNvPr>
          <p:cNvSpPr txBox="1"/>
          <p:nvPr/>
        </p:nvSpPr>
        <p:spPr>
          <a:xfrm>
            <a:off x="108722" y="127957"/>
            <a:ext cx="27133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b="1" dirty="0">
                <a:solidFill>
                  <a:schemeClr val="bg1"/>
                </a:solidFill>
                <a:ea typeface="Gungsuh" charset="-127"/>
                <a:cs typeface="Gungsuh" charset="-127"/>
              </a:rPr>
              <a:t>Objetivo general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48BB4C4-FF42-8FD4-514F-52BFDB3A5139}"/>
              </a:ext>
            </a:extLst>
          </p:cNvPr>
          <p:cNvSpPr txBox="1"/>
          <p:nvPr/>
        </p:nvSpPr>
        <p:spPr>
          <a:xfrm>
            <a:off x="415635" y="1113549"/>
            <a:ext cx="8460509" cy="254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18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Desarrollar una solución informática orientada al control seguro de ingreso y salida de estudiantes en instituciones educativas, mediante la implementación de un sistema que permita validar la identidad de las personas involucradas, registrar eventos y garantizar la trazabilidad del proceso, integrando mecanismos de autenticación como códigos QR, PIN</a:t>
            </a:r>
            <a:r>
              <a:rPr lang="es-ES" dirty="0"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y</a:t>
            </a:r>
            <a:r>
              <a:rPr lang="es-ES" sz="18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validación manual controlada.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824911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BB1B97-0F12-99F1-230F-CD96BFF47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ED22985-C46D-64E5-A507-4D7957E5D78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20DC0CD4-CB7E-057D-2F4F-AEA2960FF5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21E5D04A-5FC4-8D31-F956-DEEAE5B9C6AA}"/>
              </a:ext>
            </a:extLst>
          </p:cNvPr>
          <p:cNvSpPr txBox="1"/>
          <p:nvPr/>
        </p:nvSpPr>
        <p:spPr>
          <a:xfrm>
            <a:off x="108722" y="127957"/>
            <a:ext cx="3301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b="1" dirty="0">
                <a:solidFill>
                  <a:schemeClr val="bg1"/>
                </a:solidFill>
                <a:ea typeface="Gungsuh" charset="-127"/>
                <a:cs typeface="Gungsuh" charset="-127"/>
              </a:rPr>
              <a:t>Objetivos específicos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22B6154-E779-F40F-FC92-D6B7BECDBA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778" y="892438"/>
            <a:ext cx="8186162" cy="5825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458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108722" y="139834"/>
            <a:ext cx="36206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b="1" dirty="0">
                <a:solidFill>
                  <a:schemeClr val="bg1"/>
                </a:solidFill>
                <a:ea typeface="Gungsuh" charset="-127"/>
                <a:cs typeface="Gungsuh" charset="-127"/>
              </a:rPr>
              <a:t>Alcances y limitaciones</a:t>
            </a:r>
          </a:p>
        </p:txBody>
      </p:sp>
      <p:sp>
        <p:nvSpPr>
          <p:cNvPr id="60" name="Alcance"/>
          <p:cNvSpPr txBox="1"/>
          <p:nvPr/>
        </p:nvSpPr>
        <p:spPr>
          <a:xfrm>
            <a:off x="502920" y="1056498"/>
            <a:ext cx="3886200" cy="2929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78B8"/>
            </a:solidFill>
          </a:ln>
        </p:spPr>
        <p:txBody>
          <a:bodyPr wrap="square" lIns="182880" tIns="182880" rIns="182880" bIns="18288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CL" sz="1600" b="1" dirty="0">
                <a:solidFill>
                  <a:srgbClr val="0878B8"/>
                </a:solidFill>
                <a:latin typeface="Arial"/>
              </a:rPr>
              <a:t>ALCANCE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050" dirty="0">
                <a:solidFill>
                  <a:srgbClr val="40516A"/>
                </a:solidFill>
                <a:latin typeface="Arial"/>
              </a:rPr>
              <a:t>MVP web con autenticación y control por rol. 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050" dirty="0">
                <a:solidFill>
                  <a:srgbClr val="40516A"/>
                </a:solidFill>
                <a:latin typeface="Arial"/>
              </a:rPr>
              <a:t>Gestión de estudiantes, apoderados y autorizados. 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050" dirty="0">
                <a:solidFill>
                  <a:srgbClr val="40516A"/>
                </a:solidFill>
                <a:latin typeface="Arial"/>
              </a:rPr>
              <a:t>Registro de ingresos, salidas y retiros. 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050" dirty="0">
                <a:solidFill>
                  <a:srgbClr val="40516A"/>
                </a:solidFill>
                <a:latin typeface="Arial"/>
              </a:rPr>
              <a:t>Validación mediante QR, PIN y contingencia manual. 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050" dirty="0">
                <a:solidFill>
                  <a:srgbClr val="40516A"/>
                </a:solidFill>
                <a:latin typeface="Arial"/>
              </a:rPr>
              <a:t>Retiros por parte de apoderados primarios o secundarios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050" dirty="0">
                <a:solidFill>
                  <a:srgbClr val="40516A"/>
                </a:solidFill>
                <a:latin typeface="Arial"/>
              </a:rPr>
              <a:t>Trazabilidad y auditoría de eventos.</a:t>
            </a:r>
          </a:p>
        </p:txBody>
      </p:sp>
      <p:sp>
        <p:nvSpPr>
          <p:cNvPr id="61" name="Limitaciones"/>
          <p:cNvSpPr txBox="1"/>
          <p:nvPr/>
        </p:nvSpPr>
        <p:spPr>
          <a:xfrm>
            <a:off x="4754880" y="1057586"/>
            <a:ext cx="3886200" cy="2525018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lIns="182880" tIns="182880" rIns="182880" bIns="182880" anchor="t">
            <a:spAutoFit/>
          </a:bodyPr>
          <a:lstStyle/>
          <a:p>
            <a:r>
              <a:rPr lang="es-CL" sz="1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/>
              </a:rPr>
              <a:t>LIMITACIONES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050" dirty="0">
                <a:solidFill>
                  <a:srgbClr val="40516A"/>
                </a:solidFill>
                <a:latin typeface="Arial"/>
              </a:rPr>
              <a:t>Validación con datos ficticios o de prueba.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050" dirty="0">
                <a:solidFill>
                  <a:srgbClr val="40516A"/>
                </a:solidFill>
                <a:latin typeface="Arial"/>
              </a:rPr>
              <a:t>Ejecución en un entorno controlado.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050" dirty="0">
                <a:solidFill>
                  <a:srgbClr val="40516A"/>
                </a:solidFill>
                <a:latin typeface="Arial"/>
              </a:rPr>
              <a:t>Sin operación continua en una institución real.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050" dirty="0">
                <a:solidFill>
                  <a:srgbClr val="40516A"/>
                </a:solidFill>
                <a:latin typeface="Arial"/>
              </a:rPr>
              <a:t>Las pruebas no reproducen completamente condiciones reales de alta demanda.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050" dirty="0">
                <a:solidFill>
                  <a:srgbClr val="40516A"/>
                </a:solidFill>
                <a:latin typeface="Arial"/>
              </a:rPr>
              <a:t>Ley 21.719 considerada a nivel de diseño; no se certifica cumplimiento productivo.</a:t>
            </a:r>
          </a:p>
        </p:txBody>
      </p:sp>
      <p:sp>
        <p:nvSpPr>
          <p:cNvPr id="4" name="Limitaciones">
            <a:extLst>
              <a:ext uri="{FF2B5EF4-FFF2-40B4-BE49-F238E27FC236}">
                <a16:creationId xmlns:a16="http://schemas.microsoft.com/office/drawing/2014/main" id="{308616E1-D612-E42B-76AF-A251B9B9A11B}"/>
              </a:ext>
            </a:extLst>
          </p:cNvPr>
          <p:cNvSpPr txBox="1"/>
          <p:nvPr/>
        </p:nvSpPr>
        <p:spPr>
          <a:xfrm>
            <a:off x="4754880" y="3673983"/>
            <a:ext cx="3886200" cy="3094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1D2B"/>
            </a:solidFill>
          </a:ln>
        </p:spPr>
        <p:txBody>
          <a:bodyPr wrap="square" lIns="182880" tIns="182880" rIns="182880" bIns="182880" anchor="t">
            <a:spAutoFit/>
          </a:bodyPr>
          <a:lstStyle/>
          <a:p>
            <a:r>
              <a:rPr lang="es-CL" sz="1600" b="1" dirty="0">
                <a:solidFill>
                  <a:srgbClr val="C81D2B"/>
                </a:solidFill>
                <a:latin typeface="Arial"/>
              </a:rPr>
              <a:t>FUERA DE ALCANCE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050" dirty="0">
                <a:solidFill>
                  <a:srgbClr val="40516A"/>
                </a:solidFill>
                <a:latin typeface="Arial"/>
              </a:rPr>
              <a:t>Reconocimiento facial o biometría.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050" dirty="0">
                <a:solidFill>
                  <a:srgbClr val="40516A"/>
                </a:solidFill>
                <a:latin typeface="Arial"/>
              </a:rPr>
              <a:t>Integración con torniquetes, puertas automáticas o hardware especializado.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050" dirty="0">
                <a:solidFill>
                  <a:srgbClr val="40516A"/>
                </a:solidFill>
                <a:latin typeface="Arial"/>
              </a:rPr>
              <a:t>Integración con plataformas institucionales externas.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050" dirty="0">
                <a:solidFill>
                  <a:srgbClr val="40516A"/>
                </a:solidFill>
                <a:latin typeface="Arial"/>
              </a:rPr>
              <a:t>Certificación integral de cumplimiento normativo.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050" dirty="0">
                <a:solidFill>
                  <a:srgbClr val="40516A"/>
                </a:solidFill>
                <a:latin typeface="Arial"/>
              </a:rPr>
              <a:t>Operación productiva a escala institucional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050" dirty="0">
                <a:solidFill>
                  <a:srgbClr val="40516A"/>
                </a:solidFill>
                <a:latin typeface="Arial"/>
              </a:rPr>
              <a:t>Implementación institucional y cumplimiento normativo productivo, sujeto a responsabilidades entre institución y proveedor.</a:t>
            </a:r>
          </a:p>
        </p:txBody>
      </p:sp>
    </p:spTree>
    <p:extLst>
      <p:ext uri="{BB962C8B-B14F-4D97-AF65-F5344CB8AC3E}">
        <p14:creationId xmlns:p14="http://schemas.microsoft.com/office/powerpoint/2010/main" val="1419707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D10D84-6336-A0FB-6C25-E2B8A45B0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3E15AECF-7FBA-A806-430F-1D6FE6BEA17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73E30158-766A-4840-2BFD-5D22A3CC62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422378E8-B186-39B9-3D94-36AA79106947}"/>
              </a:ext>
            </a:extLst>
          </p:cNvPr>
          <p:cNvSpPr txBox="1"/>
          <p:nvPr/>
        </p:nvSpPr>
        <p:spPr>
          <a:xfrm>
            <a:off x="4016693" y="162581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sz="2800" b="1" dirty="0">
              <a:solidFill>
                <a:schemeClr val="bg1"/>
              </a:solidFill>
              <a:ea typeface="Gungsuh" charset="-127"/>
              <a:cs typeface="Gungsuh" charset="-127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34A68C2-29FA-9BE6-A423-FFA60E89AFE1}"/>
              </a:ext>
            </a:extLst>
          </p:cNvPr>
          <p:cNvSpPr txBox="1"/>
          <p:nvPr/>
        </p:nvSpPr>
        <p:spPr>
          <a:xfrm>
            <a:off x="108722" y="139834"/>
            <a:ext cx="57981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solidFill>
                  <a:schemeClr val="bg1"/>
                </a:solidFill>
                <a:ea typeface="Gungsuh" charset="-127"/>
                <a:cs typeface="Gungsuh" charset="-127"/>
              </a:rPr>
              <a:t>Metodología</a:t>
            </a:r>
            <a:endParaRPr lang="es-ES_tradnl" sz="2800" b="1" dirty="0">
              <a:solidFill>
                <a:schemeClr val="bg1"/>
              </a:solidFill>
              <a:ea typeface="Gungsuh" charset="-127"/>
              <a:cs typeface="Gungsuh" charset="-12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2197123-5C83-5591-12DD-7D5B125E8E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633232"/>
            <a:ext cx="5806027" cy="3286025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557AB6E5-74B2-0B42-12E5-5BB75C3404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6912" y="1090286"/>
            <a:ext cx="2505425" cy="467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156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6C4D66-909B-F65A-E6A0-F3C45A8CC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D5177A7-968C-B6E5-AA0D-AD13862F3C7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2AD33A3D-9C73-D2BC-51B9-87BEA09926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C68351A9-22C5-E7EE-94C5-7200B3F96FF0}"/>
              </a:ext>
            </a:extLst>
          </p:cNvPr>
          <p:cNvSpPr txBox="1"/>
          <p:nvPr/>
        </p:nvSpPr>
        <p:spPr>
          <a:xfrm>
            <a:off x="4016693" y="162581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sz="2800" b="1" dirty="0">
              <a:solidFill>
                <a:schemeClr val="bg1"/>
              </a:solidFill>
              <a:ea typeface="Gungsuh" charset="-127"/>
              <a:cs typeface="Gungsuh" charset="-127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6D95C98-AAA6-0128-55B7-4BCCD01228C6}"/>
              </a:ext>
            </a:extLst>
          </p:cNvPr>
          <p:cNvSpPr txBox="1"/>
          <p:nvPr/>
        </p:nvSpPr>
        <p:spPr>
          <a:xfrm>
            <a:off x="108722" y="139834"/>
            <a:ext cx="42918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1"/>
                </a:solidFill>
                <a:ea typeface="Gungsuh" charset="-127"/>
                <a:cs typeface="Gungsuh" charset="-127"/>
              </a:rPr>
              <a:t>Arquitectura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ED38034-1FB2-43E9-B37A-EB4654AECF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951" y="1659849"/>
            <a:ext cx="8842327" cy="421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132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2621E2-C512-EA25-A729-FFBB32BF4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2292D6B-490A-0B84-3EBB-362FEB2DFD1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E79A4F97-61FE-9AEA-F300-73B2913CE9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0C5C5A86-E385-34E5-D44B-5A5B7F175E79}"/>
              </a:ext>
            </a:extLst>
          </p:cNvPr>
          <p:cNvSpPr txBox="1"/>
          <p:nvPr/>
        </p:nvSpPr>
        <p:spPr>
          <a:xfrm>
            <a:off x="4016693" y="162581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sz="2800" b="1" dirty="0">
              <a:solidFill>
                <a:schemeClr val="bg1"/>
              </a:solidFill>
              <a:ea typeface="Gungsuh" charset="-127"/>
              <a:cs typeface="Gungsuh" charset="-127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9E225AB-9989-7E94-32A9-D133905D5145}"/>
              </a:ext>
            </a:extLst>
          </p:cNvPr>
          <p:cNvSpPr txBox="1"/>
          <p:nvPr/>
        </p:nvSpPr>
        <p:spPr>
          <a:xfrm>
            <a:off x="108722" y="139834"/>
            <a:ext cx="40845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b="1" dirty="0">
                <a:solidFill>
                  <a:schemeClr val="bg1"/>
                </a:solidFill>
                <a:ea typeface="Gungsuh" charset="-127"/>
                <a:cs typeface="Gungsuh" charset="-127"/>
              </a:rPr>
              <a:t>Casos de uso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9FBF126-03B3-AE8A-5807-DFA9F7AFE998}"/>
              </a:ext>
            </a:extLst>
          </p:cNvPr>
          <p:cNvSpPr/>
          <p:nvPr/>
        </p:nvSpPr>
        <p:spPr>
          <a:xfrm>
            <a:off x="2035175" y="3594100"/>
            <a:ext cx="288925" cy="1555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6A8BF57-0047-B050-2F39-CC7E7A0EE7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594" y="802887"/>
            <a:ext cx="6996812" cy="5531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489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108722" y="99808"/>
            <a:ext cx="37693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b="1" dirty="0">
                <a:solidFill>
                  <a:schemeClr val="bg1"/>
                </a:solidFill>
                <a:ea typeface="Gungsuh" charset="-127"/>
                <a:cs typeface="Gungsuh" charset="-127"/>
              </a:rPr>
              <a:t>Seguridad y trazabilidad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8F55BF5-BCAA-EC9F-2201-ADBC2782565C}"/>
              </a:ext>
            </a:extLst>
          </p:cNvPr>
          <p:cNvSpPr txBox="1"/>
          <p:nvPr/>
        </p:nvSpPr>
        <p:spPr>
          <a:xfrm>
            <a:off x="274423" y="930844"/>
            <a:ext cx="859515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Cada actor accede solo a las acciones asociadas a su rol y toda aprobación exige una validación previa.</a:t>
            </a:r>
          </a:p>
          <a:p>
            <a:br>
              <a:rPr lang="es-ES" dirty="0"/>
            </a:br>
            <a:br>
              <a:rPr lang="es-ES" dirty="0"/>
            </a:br>
            <a:br>
              <a:rPr lang="es-ES" dirty="0"/>
            </a:br>
            <a:endParaRPr lang="es-ES" dirty="0"/>
          </a:p>
          <a:p>
            <a:r>
              <a:rPr lang="es-ES" dirty="0"/>
              <a:t>Cada evento conserva responsable, fecha, hora, método y resultado para reconstruir lo ocurrido y apoyar una revisión posterior.</a:t>
            </a:r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BDA6FCA-F8E0-9E97-D71D-20E460C928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423" y="1727768"/>
            <a:ext cx="4763165" cy="71447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4D8B91C-BC86-EF3E-7962-D842372E94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0385" y="1435992"/>
            <a:ext cx="3962953" cy="121937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1B7B3DEF-FC52-732D-827F-FDD691530A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25093" y="3367125"/>
            <a:ext cx="4137632" cy="277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707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108722" y="127958"/>
            <a:ext cx="1590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b="1" dirty="0">
                <a:solidFill>
                  <a:schemeClr val="bg1"/>
                </a:solidFill>
                <a:ea typeface="Gungsuh" charset="-127"/>
                <a:cs typeface="Gungsuh" charset="-127"/>
              </a:rPr>
              <a:t>Evidencia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AAA6748-AE28-33B3-E332-FEB2DE2FF4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501" y="802887"/>
            <a:ext cx="7289390" cy="5845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707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108722" y="127957"/>
            <a:ext cx="9012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b="1" dirty="0">
                <a:solidFill>
                  <a:schemeClr val="bg1"/>
                </a:solidFill>
                <a:ea typeface="Gungsuh" charset="-127"/>
                <a:cs typeface="Gungsuh" charset="-127"/>
              </a:rPr>
              <a:t>MVP</a:t>
            </a:r>
          </a:p>
        </p:txBody>
      </p:sp>
      <p:sp>
        <p:nvSpPr>
          <p:cNvPr id="4" name="Numero01">
            <a:extLst>
              <a:ext uri="{FF2B5EF4-FFF2-40B4-BE49-F238E27FC236}">
                <a16:creationId xmlns:a16="http://schemas.microsoft.com/office/drawing/2014/main" id="{6C316483-6E20-CE1D-C8EA-C51F53CD20BB}"/>
              </a:ext>
            </a:extLst>
          </p:cNvPr>
          <p:cNvSpPr txBox="1"/>
          <p:nvPr/>
        </p:nvSpPr>
        <p:spPr>
          <a:xfrm>
            <a:off x="228600" y="1280160"/>
            <a:ext cx="502920" cy="310896"/>
          </a:xfrm>
          <a:prstGeom prst="roundRect">
            <a:avLst/>
          </a:prstGeom>
          <a:solidFill>
            <a:srgbClr val="0878B8"/>
          </a:solidFill>
          <a:ln w="12700">
            <a:solidFill>
              <a:srgbClr val="0878B8"/>
            </a:solidFill>
          </a:ln>
        </p:spPr>
        <p:txBody>
          <a:bodyPr wrap="square" lIns="18288" tIns="18288" rIns="18288" bIns="18288" anchor="ctr">
            <a:spAutoFit/>
          </a:bodyPr>
          <a:lstStyle/>
          <a:p>
            <a:r>
              <a:rPr lang="es-CL" sz="950" b="1" dirty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6" name="Tarjeta01">
            <a:extLst>
              <a:ext uri="{FF2B5EF4-FFF2-40B4-BE49-F238E27FC236}">
                <a16:creationId xmlns:a16="http://schemas.microsoft.com/office/drawing/2014/main" id="{B8DCE77A-42CD-C870-6081-D9EB2483CA8D}"/>
              </a:ext>
            </a:extLst>
          </p:cNvPr>
          <p:cNvSpPr txBox="1"/>
          <p:nvPr/>
        </p:nvSpPr>
        <p:spPr>
          <a:xfrm>
            <a:off x="896112" y="1170432"/>
            <a:ext cx="7818120" cy="75765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37160" tIns="137160" rIns="137160" bIns="137160" anchor="t">
            <a:spAutoFit/>
          </a:bodyPr>
          <a:lstStyle/>
          <a:p>
            <a:r>
              <a:rPr lang="es-CL" sz="1600" b="1" dirty="0">
                <a:solidFill>
                  <a:srgbClr val="13233B"/>
                </a:solidFill>
                <a:latin typeface="Arial"/>
              </a:rPr>
              <a:t>SALIDA AUTÓNOMA CON QR</a:t>
            </a:r>
          </a:p>
          <a:p>
            <a:r>
              <a:rPr lang="es-CL" sz="1050" dirty="0">
                <a:solidFill>
                  <a:srgbClr val="40516A"/>
                </a:solidFill>
                <a:latin typeface="Arial"/>
              </a:rPr>
              <a:t>Estudiante→ generación QR → portería → se acepta salida → se cambian estados → registrar trazabilidad</a:t>
            </a:r>
          </a:p>
        </p:txBody>
      </p:sp>
      <p:sp>
        <p:nvSpPr>
          <p:cNvPr id="10" name="Acento01">
            <a:extLst>
              <a:ext uri="{FF2B5EF4-FFF2-40B4-BE49-F238E27FC236}">
                <a16:creationId xmlns:a16="http://schemas.microsoft.com/office/drawing/2014/main" id="{474B5819-F9CF-85E5-945B-9F0898157BD4}"/>
              </a:ext>
            </a:extLst>
          </p:cNvPr>
          <p:cNvSpPr txBox="1"/>
          <p:nvPr/>
        </p:nvSpPr>
        <p:spPr>
          <a:xfrm>
            <a:off x="896112" y="1170431"/>
            <a:ext cx="60960" cy="757653"/>
          </a:xfrm>
          <a:prstGeom prst="rect">
            <a:avLst/>
          </a:prstGeom>
          <a:solidFill>
            <a:srgbClr val="0878B8"/>
          </a:solidFill>
          <a:ln w="12700">
            <a:solidFill>
              <a:srgbClr val="0878B8"/>
            </a:solidFill>
          </a:ln>
        </p:spPr>
        <p:txBody>
          <a:bodyPr wrap="square" lIns="109728" tIns="73152" rIns="109728" bIns="73152" anchor="t">
            <a:spAutoFit/>
          </a:bodyPr>
          <a:lstStyle/>
          <a:p>
            <a:endParaRPr/>
          </a:p>
        </p:txBody>
      </p:sp>
      <p:sp>
        <p:nvSpPr>
          <p:cNvPr id="12" name="Numero02">
            <a:extLst>
              <a:ext uri="{FF2B5EF4-FFF2-40B4-BE49-F238E27FC236}">
                <a16:creationId xmlns:a16="http://schemas.microsoft.com/office/drawing/2014/main" id="{6D8698D3-1E56-CA78-806F-165E7C3545EF}"/>
              </a:ext>
            </a:extLst>
          </p:cNvPr>
          <p:cNvSpPr txBox="1"/>
          <p:nvPr/>
        </p:nvSpPr>
        <p:spPr>
          <a:xfrm>
            <a:off x="228600" y="2194560"/>
            <a:ext cx="502920" cy="310896"/>
          </a:xfrm>
          <a:prstGeom prst="roundRect">
            <a:avLst/>
          </a:prstGeom>
          <a:solidFill>
            <a:srgbClr val="0B9F78"/>
          </a:solidFill>
          <a:ln w="12700">
            <a:solidFill>
              <a:srgbClr val="0B9F78"/>
            </a:solidFill>
          </a:ln>
        </p:spPr>
        <p:txBody>
          <a:bodyPr wrap="square" lIns="18288" tIns="18288" rIns="18288" bIns="18288" anchor="ctr">
            <a:spAutoFit/>
          </a:bodyPr>
          <a:lstStyle/>
          <a:p>
            <a:r>
              <a:rPr lang="es-CL" sz="950" b="1" dirty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4" name="Tarjeta02">
            <a:extLst>
              <a:ext uri="{FF2B5EF4-FFF2-40B4-BE49-F238E27FC236}">
                <a16:creationId xmlns:a16="http://schemas.microsoft.com/office/drawing/2014/main" id="{3B59E9B3-9A4A-BFC5-4C75-88B5C95A4320}"/>
              </a:ext>
            </a:extLst>
          </p:cNvPr>
          <p:cNvSpPr txBox="1"/>
          <p:nvPr/>
        </p:nvSpPr>
        <p:spPr>
          <a:xfrm>
            <a:off x="896112" y="2084832"/>
            <a:ext cx="7818120" cy="75765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37160" tIns="137160" rIns="137160" bIns="137160" anchor="t">
            <a:spAutoFit/>
          </a:bodyPr>
          <a:lstStyle/>
          <a:p>
            <a:r>
              <a:rPr lang="es-CL" sz="1600" b="1" dirty="0">
                <a:solidFill>
                  <a:srgbClr val="13233B"/>
                </a:solidFill>
                <a:latin typeface="Arial"/>
              </a:rPr>
              <a:t>RETIRO DE ESTUDIANTE QUE NO PUEDE SALIR SOLO, USANDO PIN DUAL</a:t>
            </a:r>
          </a:p>
          <a:p>
            <a:r>
              <a:rPr lang="es-CL" sz="1050" dirty="0">
                <a:solidFill>
                  <a:srgbClr val="40516A"/>
                </a:solidFill>
                <a:latin typeface="Arial"/>
              </a:rPr>
              <a:t>Solicitud Apoderado → estudiante → dos PIN → confirmación → se cambian estados → registrar trazabilidad</a:t>
            </a:r>
          </a:p>
        </p:txBody>
      </p:sp>
      <p:sp>
        <p:nvSpPr>
          <p:cNvPr id="16" name="Acento02">
            <a:extLst>
              <a:ext uri="{FF2B5EF4-FFF2-40B4-BE49-F238E27FC236}">
                <a16:creationId xmlns:a16="http://schemas.microsoft.com/office/drawing/2014/main" id="{655E6037-FDB0-832E-FB6C-57CF6DFE6252}"/>
              </a:ext>
            </a:extLst>
          </p:cNvPr>
          <p:cNvSpPr txBox="1"/>
          <p:nvPr/>
        </p:nvSpPr>
        <p:spPr>
          <a:xfrm>
            <a:off x="896112" y="2084832"/>
            <a:ext cx="60960" cy="757654"/>
          </a:xfrm>
          <a:prstGeom prst="rect">
            <a:avLst/>
          </a:prstGeom>
          <a:solidFill>
            <a:srgbClr val="0B9F78"/>
          </a:solidFill>
          <a:ln w="12700">
            <a:solidFill>
              <a:srgbClr val="0B9F78"/>
            </a:solidFill>
          </a:ln>
        </p:spPr>
        <p:txBody>
          <a:bodyPr wrap="square" lIns="109728" tIns="73152" rIns="109728" bIns="73152" anchor="t">
            <a:spAutoFit/>
          </a:bodyPr>
          <a:lstStyle/>
          <a:p>
            <a:endParaRPr/>
          </a:p>
        </p:txBody>
      </p:sp>
      <p:sp>
        <p:nvSpPr>
          <p:cNvPr id="19" name="Numero02">
            <a:extLst>
              <a:ext uri="{FF2B5EF4-FFF2-40B4-BE49-F238E27FC236}">
                <a16:creationId xmlns:a16="http://schemas.microsoft.com/office/drawing/2014/main" id="{015D1A3B-3F85-4B29-2C83-04B145F4C598}"/>
              </a:ext>
            </a:extLst>
          </p:cNvPr>
          <p:cNvSpPr txBox="1"/>
          <p:nvPr/>
        </p:nvSpPr>
        <p:spPr>
          <a:xfrm>
            <a:off x="216408" y="3105739"/>
            <a:ext cx="502920" cy="364355"/>
          </a:xfrm>
          <a:prstGeom prst="roundRect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  <p:txBody>
          <a:bodyPr wrap="square" lIns="18288" tIns="18288" rIns="18288" bIns="18288" anchor="ctr">
            <a:spAutoFit/>
          </a:bodyPr>
          <a:lstStyle/>
          <a:p>
            <a:r>
              <a:rPr lang="es-CL" sz="950" b="1" dirty="0">
                <a:solidFill>
                  <a:srgbClr val="FFFFFF"/>
                </a:solidFill>
                <a:latin typeface="Arial"/>
              </a:rPr>
              <a:t>03</a:t>
            </a:r>
            <a:br>
              <a:rPr lang="es-CL" sz="950" b="1" dirty="0">
                <a:solidFill>
                  <a:srgbClr val="FFFFFF"/>
                </a:solidFill>
                <a:latin typeface="Arial"/>
              </a:rPr>
            </a:br>
            <a:endParaRPr lang="es-CL" sz="95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arjeta02">
            <a:extLst>
              <a:ext uri="{FF2B5EF4-FFF2-40B4-BE49-F238E27FC236}">
                <a16:creationId xmlns:a16="http://schemas.microsoft.com/office/drawing/2014/main" id="{1BD020E2-212D-67BD-2906-8DC30C90021C}"/>
              </a:ext>
            </a:extLst>
          </p:cNvPr>
          <p:cNvSpPr txBox="1"/>
          <p:nvPr/>
        </p:nvSpPr>
        <p:spPr>
          <a:xfrm>
            <a:off x="883920" y="3022741"/>
            <a:ext cx="7818120" cy="75765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37160" tIns="137160" rIns="137160" bIns="137160" anchor="t">
            <a:spAutoFit/>
          </a:bodyPr>
          <a:lstStyle/>
          <a:p>
            <a:r>
              <a:rPr lang="es-CL" sz="1600" b="1" dirty="0">
                <a:solidFill>
                  <a:srgbClr val="13233B"/>
                </a:solidFill>
                <a:latin typeface="Arial"/>
              </a:rPr>
              <a:t>RECHAZAR RETIRO SI PIN NO COINCIDE</a:t>
            </a:r>
          </a:p>
          <a:p>
            <a:r>
              <a:rPr lang="es-CL" sz="1050" dirty="0">
                <a:solidFill>
                  <a:srgbClr val="40516A"/>
                </a:solidFill>
                <a:latin typeface="Arial"/>
              </a:rPr>
              <a:t>Solicitud Apoderado → estudiante → dos PIN → uno falla → rechazar retiro → mantener estados → registrar trazabilidad</a:t>
            </a:r>
          </a:p>
        </p:txBody>
      </p:sp>
      <p:sp>
        <p:nvSpPr>
          <p:cNvPr id="23" name="Acento02">
            <a:extLst>
              <a:ext uri="{FF2B5EF4-FFF2-40B4-BE49-F238E27FC236}">
                <a16:creationId xmlns:a16="http://schemas.microsoft.com/office/drawing/2014/main" id="{54383D98-428E-A6B2-DEEB-132B509F116C}"/>
              </a:ext>
            </a:extLst>
          </p:cNvPr>
          <p:cNvSpPr txBox="1"/>
          <p:nvPr/>
        </p:nvSpPr>
        <p:spPr>
          <a:xfrm>
            <a:off x="883920" y="3022741"/>
            <a:ext cx="73152" cy="71323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  <p:txBody>
          <a:bodyPr wrap="square" lIns="109728" tIns="73152" rIns="109728" bIns="73152" anchor="t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197078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F668D2-5784-AC23-49A2-1F2A75968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B5BFD1CF-8217-F05F-D861-0B38B2DE01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3F1CC8E3-A00F-9B3C-31A0-FDBAC5BFCD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B1ADA39A-603C-8BBA-CD97-8BBED04C22C3}"/>
              </a:ext>
            </a:extLst>
          </p:cNvPr>
          <p:cNvSpPr txBox="1"/>
          <p:nvPr/>
        </p:nvSpPr>
        <p:spPr>
          <a:xfrm>
            <a:off x="108722" y="127957"/>
            <a:ext cx="49176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b="1" dirty="0">
                <a:solidFill>
                  <a:schemeClr val="bg1"/>
                </a:solidFill>
                <a:ea typeface="Gungsuh" charset="-127"/>
                <a:cs typeface="Gungsuh" charset="-127"/>
              </a:rPr>
              <a:t>FUNCIONALIDADES SEMANA 11</a:t>
            </a:r>
          </a:p>
        </p:txBody>
      </p:sp>
      <p:sp>
        <p:nvSpPr>
          <p:cNvPr id="4" name="Numero01">
            <a:extLst>
              <a:ext uri="{FF2B5EF4-FFF2-40B4-BE49-F238E27FC236}">
                <a16:creationId xmlns:a16="http://schemas.microsoft.com/office/drawing/2014/main" id="{65F26562-66D4-AED7-0FB8-A97EE78B4CBB}"/>
              </a:ext>
            </a:extLst>
          </p:cNvPr>
          <p:cNvSpPr txBox="1"/>
          <p:nvPr/>
        </p:nvSpPr>
        <p:spPr>
          <a:xfrm>
            <a:off x="228600" y="1280160"/>
            <a:ext cx="502920" cy="310896"/>
          </a:xfrm>
          <a:prstGeom prst="roundRect">
            <a:avLst/>
          </a:prstGeom>
          <a:solidFill>
            <a:srgbClr val="0878B8"/>
          </a:solidFill>
          <a:ln w="12700">
            <a:solidFill>
              <a:srgbClr val="0878B8"/>
            </a:solidFill>
          </a:ln>
        </p:spPr>
        <p:txBody>
          <a:bodyPr wrap="square" lIns="18288" tIns="18288" rIns="18288" bIns="18288" anchor="ctr">
            <a:spAutoFit/>
          </a:bodyPr>
          <a:lstStyle/>
          <a:p>
            <a:r>
              <a:rPr lang="es-CL" sz="950" b="1" dirty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6" name="Tarjeta01">
            <a:extLst>
              <a:ext uri="{FF2B5EF4-FFF2-40B4-BE49-F238E27FC236}">
                <a16:creationId xmlns:a16="http://schemas.microsoft.com/office/drawing/2014/main" id="{9FC48981-E6D7-1E95-AF9F-AFCEF961D621}"/>
              </a:ext>
            </a:extLst>
          </p:cNvPr>
          <p:cNvSpPr txBox="1"/>
          <p:nvPr/>
        </p:nvSpPr>
        <p:spPr>
          <a:xfrm>
            <a:off x="896112" y="1170432"/>
            <a:ext cx="7818120" cy="75765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37160" tIns="137160" rIns="137160" bIns="137160" anchor="t">
            <a:spAutoFit/>
          </a:bodyPr>
          <a:lstStyle/>
          <a:p>
            <a:r>
              <a:rPr lang="es-CL" sz="1600" b="1">
                <a:solidFill>
                  <a:srgbClr val="13233B"/>
                </a:solidFill>
                <a:latin typeface="Arial"/>
              </a:rPr>
              <a:t>GESTION DE VINCULOS</a:t>
            </a:r>
            <a:endParaRPr lang="es-CL" sz="1600" b="1" dirty="0">
              <a:solidFill>
                <a:srgbClr val="13233B"/>
              </a:solidFill>
              <a:latin typeface="Arial"/>
            </a:endParaRPr>
          </a:p>
          <a:p>
            <a:r>
              <a:rPr lang="es-CL" sz="1050" dirty="0">
                <a:solidFill>
                  <a:srgbClr val="40516A"/>
                </a:solidFill>
                <a:latin typeface="Arial"/>
              </a:rPr>
              <a:t>Estudiante→ generación QR → portería → se acepta salida → se cambian estados → registrar trazabilidad</a:t>
            </a:r>
          </a:p>
        </p:txBody>
      </p:sp>
      <p:sp>
        <p:nvSpPr>
          <p:cNvPr id="10" name="Acento01">
            <a:extLst>
              <a:ext uri="{FF2B5EF4-FFF2-40B4-BE49-F238E27FC236}">
                <a16:creationId xmlns:a16="http://schemas.microsoft.com/office/drawing/2014/main" id="{BD19CCCA-208B-5B64-3D07-7E0F948C67C3}"/>
              </a:ext>
            </a:extLst>
          </p:cNvPr>
          <p:cNvSpPr txBox="1"/>
          <p:nvPr/>
        </p:nvSpPr>
        <p:spPr>
          <a:xfrm>
            <a:off x="896112" y="1170431"/>
            <a:ext cx="60960" cy="757653"/>
          </a:xfrm>
          <a:prstGeom prst="rect">
            <a:avLst/>
          </a:prstGeom>
          <a:solidFill>
            <a:srgbClr val="0878B8"/>
          </a:solidFill>
          <a:ln w="12700">
            <a:solidFill>
              <a:srgbClr val="0878B8"/>
            </a:solidFill>
          </a:ln>
        </p:spPr>
        <p:txBody>
          <a:bodyPr wrap="square" lIns="109728" tIns="73152" rIns="109728" bIns="73152" anchor="t">
            <a:spAutoFit/>
          </a:bodyPr>
          <a:lstStyle/>
          <a:p>
            <a:endParaRPr/>
          </a:p>
        </p:txBody>
      </p:sp>
      <p:sp>
        <p:nvSpPr>
          <p:cNvPr id="12" name="Numero02">
            <a:extLst>
              <a:ext uri="{FF2B5EF4-FFF2-40B4-BE49-F238E27FC236}">
                <a16:creationId xmlns:a16="http://schemas.microsoft.com/office/drawing/2014/main" id="{FC6710D5-6E91-3485-F6DE-0D12606228F2}"/>
              </a:ext>
            </a:extLst>
          </p:cNvPr>
          <p:cNvSpPr txBox="1"/>
          <p:nvPr/>
        </p:nvSpPr>
        <p:spPr>
          <a:xfrm>
            <a:off x="228600" y="2194560"/>
            <a:ext cx="502920" cy="310896"/>
          </a:xfrm>
          <a:prstGeom prst="roundRect">
            <a:avLst/>
          </a:prstGeom>
          <a:solidFill>
            <a:srgbClr val="0B9F78"/>
          </a:solidFill>
          <a:ln w="12700">
            <a:solidFill>
              <a:srgbClr val="0B9F78"/>
            </a:solidFill>
          </a:ln>
        </p:spPr>
        <p:txBody>
          <a:bodyPr wrap="square" lIns="18288" tIns="18288" rIns="18288" bIns="18288" anchor="ctr">
            <a:spAutoFit/>
          </a:bodyPr>
          <a:lstStyle/>
          <a:p>
            <a:r>
              <a:rPr lang="es-CL" sz="950" b="1" dirty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4" name="Tarjeta02">
            <a:extLst>
              <a:ext uri="{FF2B5EF4-FFF2-40B4-BE49-F238E27FC236}">
                <a16:creationId xmlns:a16="http://schemas.microsoft.com/office/drawing/2014/main" id="{8B1B9294-F9E2-062A-E144-7EA693AFC686}"/>
              </a:ext>
            </a:extLst>
          </p:cNvPr>
          <p:cNvSpPr txBox="1"/>
          <p:nvPr/>
        </p:nvSpPr>
        <p:spPr>
          <a:xfrm>
            <a:off x="896112" y="2084832"/>
            <a:ext cx="7818120" cy="75765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37160" tIns="137160" rIns="137160" bIns="137160" anchor="t">
            <a:spAutoFit/>
          </a:bodyPr>
          <a:lstStyle/>
          <a:p>
            <a:r>
              <a:rPr lang="es-CL" sz="1600" b="1" dirty="0">
                <a:solidFill>
                  <a:srgbClr val="13233B"/>
                </a:solidFill>
                <a:latin typeface="Arial"/>
              </a:rPr>
              <a:t>RETIRO DE ESTUDIANTE QUE NO PUEDE SALIR SOLO, USANDO PIN DUAL</a:t>
            </a:r>
          </a:p>
          <a:p>
            <a:r>
              <a:rPr lang="es-CL" sz="1050" dirty="0">
                <a:solidFill>
                  <a:srgbClr val="40516A"/>
                </a:solidFill>
                <a:latin typeface="Arial"/>
              </a:rPr>
              <a:t>Solicitud Apoderado → estudiante → dos PIN → confirmación → se cambian estados → registrar trazabilidad</a:t>
            </a:r>
          </a:p>
        </p:txBody>
      </p:sp>
      <p:sp>
        <p:nvSpPr>
          <p:cNvPr id="16" name="Acento02">
            <a:extLst>
              <a:ext uri="{FF2B5EF4-FFF2-40B4-BE49-F238E27FC236}">
                <a16:creationId xmlns:a16="http://schemas.microsoft.com/office/drawing/2014/main" id="{D818ABFD-8F10-D5CE-3F56-C13205E8185A}"/>
              </a:ext>
            </a:extLst>
          </p:cNvPr>
          <p:cNvSpPr txBox="1"/>
          <p:nvPr/>
        </p:nvSpPr>
        <p:spPr>
          <a:xfrm>
            <a:off x="896112" y="2084832"/>
            <a:ext cx="60960" cy="757654"/>
          </a:xfrm>
          <a:prstGeom prst="rect">
            <a:avLst/>
          </a:prstGeom>
          <a:solidFill>
            <a:srgbClr val="0B9F78"/>
          </a:solidFill>
          <a:ln w="12700">
            <a:solidFill>
              <a:srgbClr val="0B9F78"/>
            </a:solidFill>
          </a:ln>
        </p:spPr>
        <p:txBody>
          <a:bodyPr wrap="square" lIns="109728" tIns="73152" rIns="109728" bIns="73152" anchor="t">
            <a:spAutoFit/>
          </a:bodyPr>
          <a:lstStyle/>
          <a:p>
            <a:endParaRPr/>
          </a:p>
        </p:txBody>
      </p:sp>
      <p:sp>
        <p:nvSpPr>
          <p:cNvPr id="19" name="Numero02">
            <a:extLst>
              <a:ext uri="{FF2B5EF4-FFF2-40B4-BE49-F238E27FC236}">
                <a16:creationId xmlns:a16="http://schemas.microsoft.com/office/drawing/2014/main" id="{372408BA-7BA3-206D-A841-676BBAB9D019}"/>
              </a:ext>
            </a:extLst>
          </p:cNvPr>
          <p:cNvSpPr txBox="1"/>
          <p:nvPr/>
        </p:nvSpPr>
        <p:spPr>
          <a:xfrm>
            <a:off x="216408" y="3105739"/>
            <a:ext cx="502920" cy="364355"/>
          </a:xfrm>
          <a:prstGeom prst="roundRect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  <p:txBody>
          <a:bodyPr wrap="square" lIns="18288" tIns="18288" rIns="18288" bIns="18288" anchor="ctr">
            <a:spAutoFit/>
          </a:bodyPr>
          <a:lstStyle/>
          <a:p>
            <a:r>
              <a:rPr lang="es-CL" sz="950" b="1" dirty="0">
                <a:solidFill>
                  <a:srgbClr val="FFFFFF"/>
                </a:solidFill>
                <a:latin typeface="Arial"/>
              </a:rPr>
              <a:t>03</a:t>
            </a:r>
            <a:br>
              <a:rPr lang="es-CL" sz="950" b="1" dirty="0">
                <a:solidFill>
                  <a:srgbClr val="FFFFFF"/>
                </a:solidFill>
                <a:latin typeface="Arial"/>
              </a:rPr>
            </a:br>
            <a:endParaRPr lang="es-CL" sz="95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arjeta02">
            <a:extLst>
              <a:ext uri="{FF2B5EF4-FFF2-40B4-BE49-F238E27FC236}">
                <a16:creationId xmlns:a16="http://schemas.microsoft.com/office/drawing/2014/main" id="{5D0848EC-FFF4-61AD-09AE-068F314EB3D8}"/>
              </a:ext>
            </a:extLst>
          </p:cNvPr>
          <p:cNvSpPr txBox="1"/>
          <p:nvPr/>
        </p:nvSpPr>
        <p:spPr>
          <a:xfrm>
            <a:off x="883920" y="3022741"/>
            <a:ext cx="7818120" cy="75765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37160" tIns="137160" rIns="137160" bIns="137160" anchor="t">
            <a:spAutoFit/>
          </a:bodyPr>
          <a:lstStyle/>
          <a:p>
            <a:r>
              <a:rPr lang="es-CL" sz="1600" b="1" dirty="0">
                <a:solidFill>
                  <a:srgbClr val="13233B"/>
                </a:solidFill>
                <a:latin typeface="Arial"/>
              </a:rPr>
              <a:t>RECHAZAR RETIRO SI PIN NO COINCIDE</a:t>
            </a:r>
          </a:p>
          <a:p>
            <a:r>
              <a:rPr lang="es-CL" sz="1050" dirty="0">
                <a:solidFill>
                  <a:srgbClr val="40516A"/>
                </a:solidFill>
                <a:latin typeface="Arial"/>
              </a:rPr>
              <a:t>Solicitud Apoderado → estudiante → dos PIN → uno falla → rechazar retiro → mantener estados → registrar trazabilidad</a:t>
            </a:r>
          </a:p>
        </p:txBody>
      </p:sp>
      <p:sp>
        <p:nvSpPr>
          <p:cNvPr id="23" name="Acento02">
            <a:extLst>
              <a:ext uri="{FF2B5EF4-FFF2-40B4-BE49-F238E27FC236}">
                <a16:creationId xmlns:a16="http://schemas.microsoft.com/office/drawing/2014/main" id="{9D40E478-2C4E-E419-C8ED-12E3EC18826B}"/>
              </a:ext>
            </a:extLst>
          </p:cNvPr>
          <p:cNvSpPr txBox="1"/>
          <p:nvPr/>
        </p:nvSpPr>
        <p:spPr>
          <a:xfrm>
            <a:off x="883920" y="3022741"/>
            <a:ext cx="73152" cy="71323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  <p:txBody>
          <a:bodyPr wrap="square" lIns="109728" tIns="73152" rIns="109728" bIns="73152" anchor="t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680776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8B99E8-D4F1-46CC-E146-CE25F506A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848C0E6D-61EA-27B7-928A-165A3E1B6BF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8B6D1562-9F86-33ED-6CB4-213C19FA2F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EAD4FFD0-CE12-52D2-B55E-AC384B38B246}"/>
              </a:ext>
            </a:extLst>
          </p:cNvPr>
          <p:cNvSpPr txBox="1"/>
          <p:nvPr/>
        </p:nvSpPr>
        <p:spPr>
          <a:xfrm>
            <a:off x="4016693" y="162581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sz="2800" b="1" dirty="0">
              <a:solidFill>
                <a:schemeClr val="bg1"/>
              </a:solidFill>
              <a:ea typeface="Gungsuh" charset="-127"/>
              <a:cs typeface="Gungsuh" charset="-127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4A897A9-8E3E-CA60-1010-1F38B5911946}"/>
              </a:ext>
            </a:extLst>
          </p:cNvPr>
          <p:cNvSpPr txBox="1"/>
          <p:nvPr/>
        </p:nvSpPr>
        <p:spPr>
          <a:xfrm>
            <a:off x="108722" y="139834"/>
            <a:ext cx="18069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b="1" dirty="0">
                <a:solidFill>
                  <a:schemeClr val="bg1"/>
                </a:solidFill>
                <a:ea typeface="Gungsuh" charset="-127"/>
                <a:cs typeface="Gungsuh" charset="-127"/>
              </a:rPr>
              <a:t>Conclusión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A0A70D4-A400-5F03-411F-8DE556688AB2}"/>
              </a:ext>
            </a:extLst>
          </p:cNvPr>
          <p:cNvSpPr txBox="1"/>
          <p:nvPr/>
        </p:nvSpPr>
        <p:spPr>
          <a:xfrm>
            <a:off x="2272393" y="3244334"/>
            <a:ext cx="4588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CL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A2B0E93-65C8-7454-F6E3-1D37273D2F8D}"/>
              </a:ext>
            </a:extLst>
          </p:cNvPr>
          <p:cNvSpPr txBox="1"/>
          <p:nvPr/>
        </p:nvSpPr>
        <p:spPr>
          <a:xfrm>
            <a:off x="348343" y="965884"/>
            <a:ext cx="8284028" cy="5450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/>
              <a:t>VALIDGATE propone una solución tecnológica para fortalecer el control de ingreso, salida y retiro de estudiantes, reduciendo la dependencia de procesos manuales y mejorando la validación y trazabilidad.</a:t>
            </a:r>
          </a:p>
          <a:p>
            <a:pPr algn="ctr">
              <a:lnSpc>
                <a:spcPct val="150000"/>
              </a:lnSpc>
            </a:pPr>
            <a:r>
              <a:rPr lang="es-ES" b="1" u="sng" dirty="0"/>
              <a:t>Resultado</a:t>
            </a:r>
            <a:r>
              <a:rPr lang="es-ES" dirty="0"/>
              <a:t> </a:t>
            </a:r>
            <a:br>
              <a:rPr lang="es-ES" dirty="0"/>
            </a:br>
            <a:r>
              <a:rPr lang="es-ES" dirty="0"/>
              <a:t>MVP funcional con control por roles, validación y registro trazable de eventos. </a:t>
            </a:r>
          </a:p>
          <a:p>
            <a:pPr algn="ctr">
              <a:lnSpc>
                <a:spcPct val="150000"/>
              </a:lnSpc>
            </a:pPr>
            <a:r>
              <a:rPr lang="es-ES" b="1" u="sng" dirty="0"/>
              <a:t>Aporte</a:t>
            </a:r>
            <a:r>
              <a:rPr lang="es-ES" dirty="0"/>
              <a:t> </a:t>
            </a:r>
            <a:br>
              <a:rPr lang="es-ES" dirty="0"/>
            </a:br>
            <a:r>
              <a:rPr lang="es-ES" dirty="0"/>
              <a:t>Centraliza un proceso que actualmente puede depender de registros y validaciones manuales. </a:t>
            </a:r>
          </a:p>
          <a:p>
            <a:pPr algn="ctr">
              <a:lnSpc>
                <a:spcPct val="150000"/>
              </a:lnSpc>
            </a:pPr>
            <a:r>
              <a:rPr lang="es-ES" b="1" u="sng" dirty="0"/>
              <a:t>Proyección</a:t>
            </a:r>
            <a:r>
              <a:rPr lang="es-ES" dirty="0"/>
              <a:t> </a:t>
            </a:r>
            <a:br>
              <a:rPr lang="es-ES" dirty="0"/>
            </a:br>
            <a:r>
              <a:rPr lang="es-ES" dirty="0"/>
              <a:t>Validación piloto en una institución y evolución hacia una operación productiva segura y escalable. </a:t>
            </a:r>
          </a:p>
          <a:p>
            <a:pPr algn="ctr">
              <a:lnSpc>
                <a:spcPct val="150000"/>
              </a:lnSpc>
            </a:pPr>
            <a:r>
              <a:rPr lang="es-ES" b="1" dirty="0"/>
              <a:t>VALIDGATE no busca reemplazar el criterio institucional, sino entregar herramientas para hacerlo más seguro, estructurado y trazable.</a:t>
            </a:r>
          </a:p>
        </p:txBody>
      </p:sp>
    </p:spTree>
    <p:extLst>
      <p:ext uri="{BB962C8B-B14F-4D97-AF65-F5344CB8AC3E}">
        <p14:creationId xmlns:p14="http://schemas.microsoft.com/office/powerpoint/2010/main" val="26439966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317C2F-A7CD-0D98-0C45-C5AA7532A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adroTexto 10">
            <a:extLst>
              <a:ext uri="{FF2B5EF4-FFF2-40B4-BE49-F238E27FC236}">
                <a16:creationId xmlns:a16="http://schemas.microsoft.com/office/drawing/2014/main" id="{60D93E29-9424-3969-0C17-2D694D28584D}"/>
              </a:ext>
            </a:extLst>
          </p:cNvPr>
          <p:cNvSpPr txBox="1"/>
          <p:nvPr/>
        </p:nvSpPr>
        <p:spPr>
          <a:xfrm>
            <a:off x="805543" y="3093343"/>
            <a:ext cx="7772400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4000" dirty="0">
                <a:solidFill>
                  <a:schemeClr val="bg1"/>
                </a:solidFill>
                <a:ea typeface="+mn-lt"/>
                <a:cs typeface="+mn-lt"/>
              </a:rPr>
              <a:t>¡MUCHAS GRACIAS!</a:t>
            </a:r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DEBEDF1-7394-5D30-C08B-E66E5E8063F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05" b="24764"/>
          <a:stretch/>
        </p:blipFill>
        <p:spPr>
          <a:xfrm>
            <a:off x="-14013" y="0"/>
            <a:ext cx="9172026" cy="1435697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DC4E34D5-3752-EC13-1B65-F819DECBCBC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46510" r="153" b="5990"/>
          <a:stretch/>
        </p:blipFill>
        <p:spPr>
          <a:xfrm>
            <a:off x="-14013" y="5486719"/>
            <a:ext cx="9172026" cy="137128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37B4D2B-F5EA-8F34-5BFA-87C51862C6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8316" y="417833"/>
            <a:ext cx="719254" cy="60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9966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6382</TotalTime>
  <Words>1993</Words>
  <Application>Microsoft Office PowerPoint</Application>
  <PresentationFormat>Carta (216 x 279 mm)</PresentationFormat>
  <Paragraphs>174</Paragraphs>
  <Slides>16</Slides>
  <Notes>16</Notes>
  <HiddenSlides>1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Gungsuh</vt:lpstr>
      <vt:lpstr>Arial</vt:lpstr>
      <vt:lpstr>Bookman Old Style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Microsoft Office</dc:creator>
  <cp:lastModifiedBy>REYES BETTANCOURT MATÍAS I</cp:lastModifiedBy>
  <cp:revision>28</cp:revision>
  <dcterms:created xsi:type="dcterms:W3CDTF">2018-06-26T20:44:09Z</dcterms:created>
  <dcterms:modified xsi:type="dcterms:W3CDTF">2026-09-02T00:25:29Z</dcterms:modified>
</cp:coreProperties>
</file>